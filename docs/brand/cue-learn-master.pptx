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 — course name, meta line, mark bottom-left. Replace title and meta per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ink ground is the one dark sheet in the paper deck. Scene number huge, name serif.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 — heading + two columns, 140px safe margins, mono footer with course +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layout — Mira's line, serif italic, gold rule. Attribution mono.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 — mark centered, one line, course link. Travels into other people's meetings; keep it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47" y="1142943"/>
            <a:ext cx="17183202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C99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CUE LEARN · COURSE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447" y="1923545"/>
            <a:ext cx="14668458" cy="1306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12"/>
              </a:lnSpc>
              <a:buNone/>
            </a:pPr>
            <a:r>
              <a:rPr lang="en-US" sz="9600" dirty="0">
                <a:solidFill>
                  <a:srgbClr val="1A22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Venture Debt </a:t>
            </a:r>
            <a:pPr algn="l" indent="0" marL="0">
              <a:lnSpc>
                <a:spcPct val="80212"/>
              </a:lnSpc>
              <a:buNone/>
            </a:pPr>
            <a:r>
              <a:rPr lang="en-US" sz="9600" i="1" dirty="0">
                <a:solidFill>
                  <a:srgbClr val="7F77D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333447" y="3610530"/>
            <a:ext cx="17183202" cy="38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126" kern="0" dirty="0">
                <a:solidFill>
                  <a:srgbClr val="5A667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SCENES · 24 MIN · TAUGHT BY MIRA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33447" y="8305882"/>
            <a:ext cx="838153" cy="838153"/>
          </a:xfrm>
          <a:prstGeom prst="roundRect">
            <a:avLst>
              <a:gd name="adj" fmla="val 27274"/>
            </a:avLst>
          </a:prstGeom>
          <a:solidFill>
            <a:srgbClr val="1A2230"/>
          </a:solidFill>
          <a:ln/>
        </p:spPr>
      </p:sp>
      <p:sp>
        <p:nvSpPr>
          <p:cNvPr id="6" name="Shape 4"/>
          <p:cNvSpPr/>
          <p:nvPr/>
        </p:nvSpPr>
        <p:spPr>
          <a:xfrm>
            <a:off x="1581094" y="8553529"/>
            <a:ext cx="133280" cy="133280"/>
          </a:xfrm>
          <a:prstGeom prst="ellipse">
            <a:avLst/>
          </a:prstGeom>
          <a:solidFill>
            <a:srgbClr val="3D6EE8"/>
          </a:solidFill>
          <a:ln/>
        </p:spPr>
      </p:sp>
      <p:sp>
        <p:nvSpPr>
          <p:cNvPr id="7" name="Text 5"/>
          <p:cNvSpPr/>
          <p:nvPr/>
        </p:nvSpPr>
        <p:spPr>
          <a:xfrm>
            <a:off x="2400173" y="8477148"/>
            <a:ext cx="1858014" cy="533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112" kern="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</a:t>
            </a:r>
            <a:pPr algn="l" indent="0" marL="0">
              <a:buNone/>
            </a:pPr>
            <a:r>
              <a:rPr lang="en-US" sz="3300" spc="-112" kern="0" dirty="0">
                <a:solidFill>
                  <a:srgbClr val="3D6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l" indent="0" marL="0">
              <a:buNone/>
            </a:pPr>
            <a:r>
              <a:rPr lang="en-US" sz="3300" spc="-112" kern="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pPr algn="l" indent="0" marL="0">
              <a:buNone/>
            </a:pPr>
            <a:r>
              <a:rPr lang="en-US" sz="3300" spc="-112" kern="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47" y="3320983"/>
            <a:ext cx="17183202" cy="38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9A93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SCENE 04 OF 12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447" y="4051453"/>
            <a:ext cx="14716107" cy="2952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66"/>
              </a:lnSpc>
              <a:buNone/>
            </a:pPr>
            <a:r>
              <a:rPr lang="en-US" sz="11250" dirty="0">
                <a:solidFill>
                  <a:srgbClr val="EAF0F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the warrant is </a:t>
            </a:r>
            <a:pPr algn="l" indent="0" marL="0">
              <a:lnSpc>
                <a:spcPct val="78466"/>
              </a:lnSpc>
              <a:buNone/>
            </a:pPr>
            <a:r>
              <a:rPr lang="en-US" sz="11250" i="1" dirty="0">
                <a:solidFill>
                  <a:srgbClr val="9A93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actually for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6582825" y="8661538"/>
            <a:ext cx="447915" cy="71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7F77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◆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47" y="1047732"/>
            <a:ext cx="17183202" cy="335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99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WARRANT, PRICED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447" y="1611745"/>
            <a:ext cx="15716231" cy="902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16"/>
              </a:lnSpc>
              <a:buNone/>
            </a:pPr>
            <a:r>
              <a:rPr lang="en-US" sz="6300" dirty="0">
                <a:solidFill>
                  <a:srgbClr val="1A22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small ticket to the upside keeps the coupon low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333447" y="3161618"/>
            <a:ext cx="7652466" cy="192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54"/>
              </a:lnSpc>
              <a:buNone/>
            </a:pPr>
            <a:r>
              <a:rPr lang="en-US" sz="2400" dirty="0">
                <a:solidFill>
                  <a:srgbClr val="3A4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Lenders can't win big on interest alone — venture rates would have to be punitive to cover startup risk. The warrant closes that gap: a right to buy a sliver of equity at today's price.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4961" y="3161618"/>
            <a:ext cx="7652466" cy="192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54"/>
              </a:lnSpc>
              <a:buNone/>
            </a:pPr>
            <a:r>
              <a:rPr lang="en-US" sz="2400" dirty="0">
                <a:solidFill>
                  <a:srgbClr val="3A4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Typical coverage runs 5–15% of the loan value. If the company works, the warrant pays; if it doesn't, the lender still had first claim on assets. Two ways to be fine, one way to win.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447" y="8941873"/>
            <a:ext cx="3042262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99A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VENTURE DEBT 101 · §04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89320" y="8915788"/>
            <a:ext cx="225294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77D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◆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571694" y="8941873"/>
            <a:ext cx="1459047" cy="309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99A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cue. learn.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4960" y="2908265"/>
            <a:ext cx="1142943" cy="57143"/>
          </a:xfrm>
          <a:prstGeom prst="rect">
            <a:avLst/>
          </a:prstGeom>
          <a:solidFill>
            <a:srgbClr val="C99A4E"/>
          </a:solidFill>
          <a:ln/>
        </p:spPr>
      </p:sp>
      <p:sp>
        <p:nvSpPr>
          <p:cNvPr id="3" name="Text 1"/>
          <p:cNvSpPr/>
          <p:nvPr/>
        </p:nvSpPr>
        <p:spPr>
          <a:xfrm>
            <a:off x="1904960" y="3498771"/>
            <a:ext cx="14519888" cy="3061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07"/>
              </a:lnSpc>
              <a:buNone/>
            </a:pPr>
            <a:r>
              <a:rPr lang="en-US" sz="6900" i="1" dirty="0">
                <a:solidFill>
                  <a:srgbClr val="1A22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"Think of the warrant as the lender's small ticket to your upside — that's why the rate can stay low."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904960" y="7055255"/>
            <a:ext cx="15925875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5A667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MIRA · SCENE 04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22" y="3393288"/>
            <a:ext cx="1142943" cy="1142943"/>
          </a:xfrm>
          <a:prstGeom prst="roundRect">
            <a:avLst>
              <a:gd name="adj" fmla="val 26668"/>
            </a:avLst>
          </a:prstGeom>
          <a:solidFill>
            <a:srgbClr val="1A2230"/>
          </a:solidFill>
          <a:ln/>
        </p:spPr>
      </p:sp>
      <p:sp>
        <p:nvSpPr>
          <p:cNvPr id="3" name="Shape 1"/>
          <p:cNvSpPr/>
          <p:nvPr/>
        </p:nvSpPr>
        <p:spPr>
          <a:xfrm>
            <a:off x="8905843" y="3726609"/>
            <a:ext cx="180967" cy="180967"/>
          </a:xfrm>
          <a:prstGeom prst="ellipse">
            <a:avLst/>
          </a:prstGeom>
          <a:solidFill>
            <a:srgbClr val="3D6EE8"/>
          </a:solidFill>
          <a:ln/>
        </p:spPr>
      </p:sp>
      <p:sp>
        <p:nvSpPr>
          <p:cNvPr id="4" name="Text 2"/>
          <p:cNvSpPr/>
          <p:nvPr/>
        </p:nvSpPr>
        <p:spPr>
          <a:xfrm>
            <a:off x="3777044" y="5145812"/>
            <a:ext cx="10733819" cy="108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dirty="0">
                <a:solidFill>
                  <a:srgbClr val="1A22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Built in a classroom that </a:t>
            </a:r>
            <a:pPr algn="ctr" indent="0" marL="0">
              <a:buNone/>
            </a:pPr>
            <a:r>
              <a:rPr lang="en-US" sz="6300" i="1" dirty="0">
                <a:solidFill>
                  <a:srgbClr val="7F77D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talks back.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6093438" y="6570150"/>
            <a:ext cx="610111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195" kern="0" dirty="0">
                <a:solidFill>
                  <a:srgbClr val="5A667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CUE. LEARN. · ASK FOR ANY COURSE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2026-09-03T10:29:45Z</dcterms:created>
  <dcterms:modified xsi:type="dcterms:W3CDTF">2026-09-03T10:29:45Z</dcterms:modified>
</cp:coreProperties>
</file>